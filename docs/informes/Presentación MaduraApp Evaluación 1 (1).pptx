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873D62-13DA-4BD9-94DC-54D629D4E80F}">
  <a:tblStyle styleId="{8E873D62-13DA-4BD9-94DC-54D629D4E8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3" Type="http://schemas.openxmlformats.org/officeDocument/2006/relationships/image" Target="../media/image18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1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7062" y="3868935"/>
            <a:ext cx="58578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92211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MaduraApp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767665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de Madurez Agrícola con Inteligencia Artificial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03875" y="4078475"/>
            <a:ext cx="135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Estudiante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24049" y="4355675"/>
            <a:ext cx="140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Asignatura: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919525" y="4658525"/>
            <a:ext cx="135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Institució</a:t>
            </a:r>
            <a:r>
              <a:rPr b="1" lang="en-US" sz="1800"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35559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314450"/>
            <a:ext cx="35559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314450"/>
            <a:ext cx="35560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24325"/>
            <a:ext cx="35559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7950" y="4124325"/>
            <a:ext cx="35559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400" y="4124325"/>
            <a:ext cx="3556099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16097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66775" y="218122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Contexto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2647950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general y problemática global del desperdicio.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3225" y="16097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613225" y="218122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Mercado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13225" y="2647950"/>
            <a:ext cx="296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 del público objetivo y usuarios finales.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9675" y="16097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359675" y="2181225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59675" y="2647950"/>
            <a:ext cx="29655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Causa raíz mediante Diagrama de Ishikawa.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419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866775" y="499110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Objetivos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66775" y="5457825"/>
            <a:ext cx="296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Metas generales y específicas del proyecto.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13225" y="4419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4613225" y="499110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Solución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613225" y="5457825"/>
            <a:ext cx="296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tecnológica, arquitectura y IA.</a:t>
            </a:r>
            <a:endParaRPr/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59675" y="4419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8359675" y="4991100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Calidad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359675" y="5457825"/>
            <a:ext cx="29655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Atributos de sistema y plan de ejecución.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AGENDA DE LA PRESENTACIÓN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71500" y="3810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72000"/>
            <a:ext cx="3035051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La Crisis del Desperdicio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400300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Aproximadamente un tercio de la producción mundial de alimentos (1.300 millones de toneladas) se pierde anualmente.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3390900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el sector retail, la falta de herramientas objetivas para medir la madurez genera pérdidas masivas por descarte estético o mala gestión de inventario.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762500"/>
            <a:ext cx="2654051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CONTEXTO Y DESAFÍO GLOBAL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6037"/>
            <a:ext cx="53340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86037"/>
            <a:ext cx="53340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8813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66775" y="345281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Consumidores (B2C)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66775" y="3919537"/>
            <a:ext cx="47434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Compradores domésticos que desean asegurar la calidad y el tiempo de vida útil de sus compras en el supermercado.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8813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581775" y="345281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Retail &amp; Bodegas (B2B)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81775" y="3919537"/>
            <a:ext cx="47434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Encargados de sección y operarios logísticos que requieren auditorías rápidas de madurez para rotación de stock.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DESCRIPCIÓN DEL MERCADO OBJETIVO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ANÁLISIS DE CAUSA RAÍZ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71500" y="20574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Diagrama de Ishikawa (6M)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24669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Falta de herramientas no invasivas en el punto de venta.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33813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Método: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Estimación visual subjetiva y manipulación física (presión) que daña el fruto.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42957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Mano de Obra: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Falta de especialización técnica en el personal de reposición.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52101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Medio Ambiente: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Variabilidad climática que acelera procesos climatéricos.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7837"/>
            <a:ext cx="110490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952500" y="2043112"/>
            <a:ext cx="108913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Objetivo General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2509837"/>
            <a:ext cx="103727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Desarrollar una plataforma digital basada en visión artificial para la clasificación objetiva del estado de madurez en frutos climatéricos, optimizando la cadena de valor.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47725" y="3967162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52500" y="3967150"/>
            <a:ext cx="5221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Implementar modelos YOLOv</a:t>
            </a: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o v11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precisión .</a:t>
            </a:r>
            <a:endParaRPr b="0" i="0" sz="15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Precisión Ideal 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 ≥</a:t>
            </a: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800">
                <a:solidFill>
                  <a:srgbClr val="141414"/>
                </a:solidFill>
                <a:highlight>
                  <a:srgbClr val="EBEBEB"/>
                </a:highlight>
                <a:latin typeface="Roboto"/>
                <a:ea typeface="Roboto"/>
                <a:cs typeface="Roboto"/>
                <a:sym typeface="Roboto"/>
              </a:rPr>
              <a:t> 75%</a:t>
            </a:r>
            <a:endParaRPr sz="15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847725" y="4929187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52500" y="4929187"/>
            <a:ext cx="4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Crear App nativa en Kotlin con latencia extrem</a:t>
            </a: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-a-extrem</a:t>
            </a: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.</a:t>
            </a:r>
            <a:endParaRPr b="0" i="0" sz="15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Latencia Ideal  </a:t>
            </a:r>
            <a:r>
              <a:rPr lang="en-US" sz="1800">
                <a:solidFill>
                  <a:srgbClr val="141414"/>
                </a:solidFill>
                <a:highlight>
                  <a:srgbClr val="EBEBEB"/>
                </a:highlight>
                <a:latin typeface="Roboto"/>
                <a:ea typeface="Roboto"/>
                <a:cs typeface="Roboto"/>
                <a:sym typeface="Roboto"/>
              </a:rPr>
              <a:t>≤ 5s</a:t>
            </a:r>
            <a:endParaRPr sz="15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562725" y="390268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67500" y="3902675"/>
            <a:ext cx="522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Desplegar infraestructura escalable en Python/FastAPI bajo modelo PaaS.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562725" y="4500562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0" y="450056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Reducir el desperdicio estimado en un 15% mediante datos precisos.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OBJETIVOS DEL PROYECTO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" name="Google Shape;186;p19"/>
          <p:cNvGraphicFramePr/>
          <p:nvPr/>
        </p:nvGraphicFramePr>
        <p:xfrm>
          <a:off x="571500" y="26678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{8E873D62-13DA-4BD9-94DC-54D629D4E80F}</a:tableStyleId>
              </a:tblPr>
              <a:tblGrid>
                <a:gridCol w="3399675"/>
                <a:gridCol w="3813725"/>
                <a:gridCol w="3835600"/>
              </a:tblGrid>
              <a:tr h="66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Proceso Actual (Manual)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Impacto Negativo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Propuesta MaduraApp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</a:tr>
              <a:tr h="66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Evaluación por tacto/presión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Daño físico y oxidación del fruto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Análisis visual no invasivo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Juicio visual subjetivo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Inconsistencia en la selección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Clasificación basada en datos (IA)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Falta de registro de calidad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Imposibilidad de mejora logística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Historial en nube y métricas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19"/>
          <p:cNvSpPr/>
          <p:nvPr/>
        </p:nvSpPr>
        <p:spPr>
          <a:xfrm>
            <a:off x="571500" y="3985170"/>
            <a:ext cx="3399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971180" y="3985170"/>
            <a:ext cx="3813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784901" y="3985170"/>
            <a:ext cx="3835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71500" y="4642395"/>
            <a:ext cx="3399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971180" y="4642395"/>
            <a:ext cx="3813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784901" y="4642395"/>
            <a:ext cx="3835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5299620"/>
            <a:ext cx="3399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971180" y="5299620"/>
            <a:ext cx="3813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784901" y="5299620"/>
            <a:ext cx="3835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DIAGRAMA DE SITUACIÓN INICIAL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71500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PROPUESTA DE SOLUCIÓN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571500" y="20574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Arquitectura Cloud-Native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24669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Android con Jetpack CameraX para pre-procesamiento local.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33813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FastAPI asíncrono gestionando la orquestación de modelos.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4295775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Núcleo 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YOLOv</a:t>
            </a: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o v11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para detección de objetos y clasificación multiclase en tiempo real.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35559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00287"/>
            <a:ext cx="35559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00287"/>
            <a:ext cx="3556099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5033962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"La información se entrega con el nivel de detalle adecuado para la toma de decisión inmediata."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95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866775" y="3167062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Oportunidad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3633787"/>
            <a:ext cx="296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Respuesta en en redes LTE.</a:t>
            </a:r>
            <a:endParaRPr/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595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13225" y="3167062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Precisión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13225" y="3633787"/>
            <a:ext cx="296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Acierto mínimo del 75% en validación de IA.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595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8359675" y="3167062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Seguridad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359675" y="3633787"/>
            <a:ext cx="29655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Cifrado TLS 1.2+ y Auth por tokens básicos.</a:t>
            </a:r>
            <a:endParaRPr/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89650" y="4033837"/>
            <a:ext cx="49619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ATRIBUTOS DE CALIDAD Y KPIS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143125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Aguacate Hass: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Cambio cromático verde a púrpura/negro.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600325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Plátano: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Degradación de clorofila (Índice de Color 1 a 7).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3057525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Tomate: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Escala de 6 etapas USDA (Breaker a Red).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3514725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Mango: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Análisis de hombros y turgencia morfológica.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DOMINIO: FRUTOS CLIMATÉRICOS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571500" y="43719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672530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10733" y="414337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Semanas 1-4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4562475"/>
            <a:ext cx="24306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ERS, Dataset e Ingesta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4545210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3383413" y="414337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Semanas 5-8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131750" y="4562475"/>
            <a:ext cx="323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Entrenamiento YOLOv</a:t>
            </a:r>
            <a:r>
              <a:rPr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o v11 -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v1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7417891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256094" y="414337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Semanas 9-12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316860" y="4562475"/>
            <a:ext cx="24306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Android &amp; API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10290571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9128774" y="414337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Semanas 13-16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189541" y="4562475"/>
            <a:ext cx="24306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QA y Despliegue Cloud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Urbanist"/>
                <a:ea typeface="Urbanist"/>
                <a:cs typeface="Urbanist"/>
                <a:sym typeface="Urbanist"/>
              </a:rPr>
              <a:t>METODOLOGÍA Y PLANIFICACIÓN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2815589" y="2160240"/>
            <a:ext cx="65608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2971800" y="3398500"/>
            <a:ext cx="656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MaduraApp: Tecnología para un futuro sin desperdicio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2971800" y="4221360"/>
            <a:ext cx="62484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Claudio Aro | Taller Aplicado de Programación 2026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Duoc UC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